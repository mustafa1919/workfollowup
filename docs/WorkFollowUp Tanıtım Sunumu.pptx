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Merhaba, ben WorkFollowUp'ı tanıtacağım. Bu ürün takımların işlerini planlamasından, günlük takibe, analiz ve otomasyona kadar tek bir platformda topluyor.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WorkFollowUp üç ana ihtiyacı karşılıyor: planlama, günlük takip ve analiz. Şimdi bunları sırayla göstereceğim.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Board, günlük çalışmanın merkezi. Kanban akışı, sprint planlama, etiketler, kayıtlı görünümler ve toplu işlemleri burada gösteriyorum.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göreve tıklandığında açılan detay ekranı: alt görevler, bağımlılıklar, yorumlar ve aktivite geçmişi hepsi burada.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Tekrarlayan toplantı planlamayı ve takvim görünümünü gösteriyorum.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Standup toplantısına hiç gerek kalmadan, herkesin özeti otomatik ve kişiselleştirilmiş şekilde hazır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Analitik panosu cycle time, velocity ve aging WIP rozetlerini gösteriyor. Aging WIP eşiği sabit bir gün sayısı değil, projenin kendi geçmiş performansından hesaplanıyor.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projedeki ilk gerçek olasılıksal tahmin modeli. Bootstrap resampling ile çalışıyor, deterministik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Retro sayfası, sprint başındaki ilk taahhütle kapanış sonucunu karşılaştırıyor ve aynı tahmin modelini "zamanında biterdi mi" sorusuna da uyguluyor.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Raporlar mevcut analitik verilerden türetiliyor; hedefler tek seviyeli ve dönem+metrik tipi sabit tanımlanıyor.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Zaman makinesi, sprint retrospektifindeki anlık görüntü mantığını tüm projeye genelleştiriyor.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hazır şablon var, hepsi proje bazında açılıp kapanabiliyor. Serbest kural editörü bilerek yok — kurulumu basit tutuyor.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üç özellik günlük kullanımı hızlandırıyor: hiçbir şeyi kaçırmadan hızlı gezinme.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WorkFollowUp kapalı bir kutu değil: GitHub, Slack ve kendi API token'larınızla dış dünyaya açılıyor.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Yayına almadan önce ayrıca kapsamlı bir güvenlik testi ve sertleştirme süreci de planlanıyor.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iletişim bilgisini kendi kanalınıza göre güncelleyin — demo talebi, e-posta veya bir bağlantı ekleyebilirsiniz.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13E"/>
              </a:gs>
              <a:gs pos="60000">
                <a:srgbClr val="1E2B52"/>
              </a:gs>
              <a:gs pos="100000">
                <a:srgbClr val="223564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7FA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İŞ TAKIP &amp; ANALIZ PLATFORMU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78560"/>
            <a:ext cx="10883392" cy="854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28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WorkFollowUp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2160058"/>
            <a:ext cx="784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Takımınızın planladığı, yürüttüğü ve öğrendiği tek yer: board, sprint, standup, analitik ve otomasyon bir arada.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5916930"/>
            <a:ext cx="406400" cy="25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5814060"/>
            <a:ext cx="188911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&amp; Tanıtım Sunumu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Takım çalışmasının dağıldığı yerde toplanır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76400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Board, sprint, toplantı, standup ve analitik — ayrı ayrı araçlar arasında kaybolmadan tek platformda.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84095"/>
            <a:ext cx="3380317" cy="3554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2680" y="2590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/>
        </p:spPr>
      </p:sp>
      <p:pic>
        <p:nvPicPr>
          <p:cNvPr id="7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1580" y="2679700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2680" y="3048000"/>
            <a:ext cx="2849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Planla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2680" y="3393440"/>
            <a:ext cx="284991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Board, backlog, sprint, alt görev ve bağımlılıklarla işi net bir yapıya kavuştur.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5842" y="2284095"/>
            <a:ext cx="3380317" cy="3554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2546" y="2590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/>
        </p:spPr>
      </p:sp>
      <p:pic>
        <p:nvPicPr>
          <p:cNvPr id="12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1446" y="2679700"/>
            <a:ext cx="177800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2546" y="3048000"/>
            <a:ext cx="2849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Takip Et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12546" y="3393440"/>
            <a:ext cx="2849914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Toplantısız standup, aktivite geçmişi ve tek bildirim kutusuyla kimse geride kalmaz.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95708" y="2284095"/>
            <a:ext cx="3380317" cy="3554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413" y="2590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/>
        </p:spPr>
      </p:sp>
      <p:pic>
        <p:nvPicPr>
          <p:cNvPr id="17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91313" y="2679700"/>
            <a:ext cx="177800" cy="177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413" y="3048000"/>
            <a:ext cx="28499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Analiz Et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02413" y="3393440"/>
            <a:ext cx="284991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 time, velocity, olasılıksal tahmin ve veriye dayalı retro ile ilerlemeyi gör.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39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68305" y="6238239"/>
            <a:ext cx="8616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Genel Bakış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GÜNLÜK ÇALIŞMA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Board &amp; Sprint Yönetimi</a:t>
            </a:r>
            <a:endParaRPr lang="en-US" sz="3200" dirty="0"/>
          </a:p>
        </p:txBody>
      </p:sp>
      <p:pic>
        <p:nvPicPr>
          <p:cNvPr id="4" name="Image 0" descr="Settings">    </p:cNvPr>
          <p:cNvPicPr>
            <a:picLocks noChangeAspect="1"/>
          </p:cNvPicPr>
          <p:nvPr/>
        </p:nvPicPr>
        <p:blipFill>
          <a:blip r:embed="rId1"/>
          <a:srcRect l="0" r="0" t="-847" b="-847"/>
          <a:stretch/>
        </p:blipFill>
        <p:spPr>
          <a:xfrm>
            <a:off x="812800" y="1899920"/>
            <a:ext cx="131127" cy="17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5527" y="1899920"/>
            <a:ext cx="509733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Kanban görünümü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sürükle-bırak ile durum değiştir, sprint ve backlog arasında geçiş yap.</a:t>
            </a:r>
            <a:endParaRPr lang="en-US" sz="1300" dirty="0"/>
          </a:p>
        </p:txBody>
      </p:sp>
      <p:pic>
        <p:nvPicPr>
          <p:cNvPr id="6" name="Image 1" descr="Star">    </p:cNvPr>
          <p:cNvPicPr>
            <a:picLocks noChangeAspect="1"/>
          </p:cNvPicPr>
          <p:nvPr/>
        </p:nvPicPr>
        <p:blipFill>
          <a:blip r:embed="rId2"/>
          <a:srcRect l="-897" r="-897" t="0" b="0"/>
          <a:stretch/>
        </p:blipFill>
        <p:spPr>
          <a:xfrm>
            <a:off x="812800" y="2547620"/>
            <a:ext cx="168063" cy="17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2463" y="2547620"/>
            <a:ext cx="505929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Etiketler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görevleri workspace genelinde tutarlı etiketlerle sınıflandır.</a:t>
            </a:r>
            <a:endParaRPr lang="en-US" sz="1300" dirty="0"/>
          </a:p>
        </p:txBody>
      </p:sp>
      <p:pic>
        <p:nvPicPr>
          <p:cNvPr id="8" name="Image 2" descr="Book">    </p:cNvPr>
          <p:cNvPicPr>
            <a:picLocks noChangeAspect="1"/>
          </p:cNvPicPr>
          <p:nvPr/>
        </p:nvPicPr>
        <p:blipFill>
          <a:blip r:embed="rId3"/>
          <a:srcRect l="0" r="0" t="-145" b="-145"/>
          <a:stretch/>
        </p:blipFill>
        <p:spPr>
          <a:xfrm>
            <a:off x="812800" y="3195320"/>
            <a:ext cx="145627" cy="177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60027" y="3195320"/>
            <a:ext cx="508240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Kayıtlı görünümler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kişisel filtre + sıralama kombinasyonlarını bir tıkla geri çağır.</a:t>
            </a:r>
            <a:endParaRPr lang="en-US" sz="1300" dirty="0"/>
          </a:p>
        </p:txBody>
      </p:sp>
      <p:pic>
        <p:nvPicPr>
          <p:cNvPr id="10" name="Image 3" descr="CheckCircle">    </p:cNvPr>
          <p:cNvPicPr>
            <a:picLocks noChangeAspect="1"/>
          </p:cNvPicPr>
          <p:nvPr/>
        </p:nvPicPr>
        <p:blipFill>
          <a:blip r:embed="rId4"/>
          <a:srcRect l="0" r="0" t="-779" b="-779"/>
          <a:stretch/>
        </p:blipFill>
        <p:spPr>
          <a:xfrm>
            <a:off x="812800" y="3843020"/>
            <a:ext cx="156316" cy="177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0716" y="3843020"/>
            <a:ext cx="507139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Toplu işlem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birden çok görevi seçip aynı anda durum veya etiket güncelle.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6200775" y="1903095"/>
            <a:ext cx="5175250" cy="3935730"/>
          </a:xfrm>
          <a:prstGeom prst="roundRect">
            <a:avLst>
              <a:gd name="adj" fmla="val 3146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456680" y="215900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Örnek sprint akışı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59855" y="2502536"/>
            <a:ext cx="1480397" cy="928370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588760" y="2631439"/>
            <a:ext cx="12733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Do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588760" y="2903220"/>
            <a:ext cx="1222587" cy="398780"/>
          </a:xfrm>
          <a:prstGeom prst="roundRect">
            <a:avLst>
              <a:gd name="adj" fmla="val 12739"/>
            </a:avLst>
          </a:prstGeom>
          <a:solidFill>
            <a:srgbClr val="F7F8FA"/>
          </a:solidFill>
          <a:ln/>
        </p:spPr>
      </p:sp>
      <p:sp>
        <p:nvSpPr>
          <p:cNvPr id="17" name="Text 11"/>
          <p:cNvSpPr/>
          <p:nvPr/>
        </p:nvSpPr>
        <p:spPr>
          <a:xfrm>
            <a:off x="6690360" y="3004820"/>
            <a:ext cx="10701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PROJ-101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48202" y="2502536"/>
            <a:ext cx="1480397" cy="928370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177107" y="2631439"/>
            <a:ext cx="12733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Devam Ediyor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177107" y="2903220"/>
            <a:ext cx="1222587" cy="398780"/>
          </a:xfrm>
          <a:prstGeom prst="roundRect">
            <a:avLst>
              <a:gd name="adj" fmla="val 12739"/>
            </a:avLst>
          </a:prstGeom>
          <a:solidFill>
            <a:srgbClr val="EAF1FF"/>
          </a:solidFill>
          <a:ln/>
        </p:spPr>
      </p:sp>
      <p:sp>
        <p:nvSpPr>
          <p:cNvPr id="21" name="Text 15"/>
          <p:cNvSpPr/>
          <p:nvPr/>
        </p:nvSpPr>
        <p:spPr>
          <a:xfrm>
            <a:off x="8278707" y="3004820"/>
            <a:ext cx="10701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PROJ-102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636548" y="2502536"/>
            <a:ext cx="1480397" cy="928370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765454" y="2631439"/>
            <a:ext cx="12733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Tamamlandı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765454" y="2903220"/>
            <a:ext cx="1222587" cy="398780"/>
          </a:xfrm>
          <a:prstGeom prst="roundRect">
            <a:avLst>
              <a:gd name="adj" fmla="val 12739"/>
            </a:avLst>
          </a:prstGeom>
          <a:solidFill>
            <a:srgbClr val="E9F7EF"/>
          </a:solidFill>
          <a:ln/>
        </p:spPr>
      </p:sp>
      <p:sp>
        <p:nvSpPr>
          <p:cNvPr id="25" name="Text 19"/>
          <p:cNvSpPr/>
          <p:nvPr/>
        </p:nvSpPr>
        <p:spPr>
          <a:xfrm>
            <a:off x="9867054" y="3004820"/>
            <a:ext cx="10701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PROJ-100 ✓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56680" y="3561080"/>
            <a:ext cx="48033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görev otomatik sıralı bir numara alır (PROJ-101 gibi) — Slack/GitHub mesajlarında da bu numarayla anılır.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12800" y="6238239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0380980" y="6238239"/>
            <a:ext cx="1049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 &amp; Sprint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GÜNLÜK ÇALIŞMA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Görev Detayı: Her Şey Bir Arada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5"/>
            <a:ext cx="5175250" cy="186309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15900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463800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 Görevler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1880" y="2794000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Bir görevi tek seviye alt görevlere böl; hepsi aynı proje içinde kalır.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903095"/>
            <a:ext cx="5175250" cy="186309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9" name="Image 1" descr="Lin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6680" y="215900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6680" y="2463800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Bağımlılıklar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56680" y="2794000"/>
            <a:ext cx="48033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"Bu görev şunu engelliyor" ilişkisini işaretle, kim kimi bekliyor net görünsün.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975736"/>
            <a:ext cx="5175250" cy="186309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3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1880" y="4231639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1880" y="4536439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Yorumlar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71880" y="4866639"/>
            <a:ext cx="48033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Görev üzerinde tartış, birini etiketle (@mention) — bildirimi anında alır.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00775" y="3975736"/>
            <a:ext cx="5175250" cy="186309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7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6680" y="4231639"/>
            <a:ext cx="203200" cy="20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56680" y="4536439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Aktivite Geçmişi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56680" y="4866639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Durum, etiket ve atama değişikliklerinin kim/ne zaman kaydını gör.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39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505229" y="6238239"/>
            <a:ext cx="9247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Görev Detayı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GÜNLÜK ÇALIŞMA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Toplantı Planlama &amp; Takvim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721"/>
            <a:ext cx="850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Tekrarlayan toplantılarınızı tek yerden yönetin, takvimde görün, hatırlatma alın.</a:t>
            </a:r>
            <a:endParaRPr lang="en-US" sz="1400" dirty="0"/>
          </a:p>
        </p:txBody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-305" b="-305"/>
          <a:stretch/>
        </p:blipFill>
        <p:spPr>
          <a:xfrm>
            <a:off x="812800" y="2250439"/>
            <a:ext cx="138853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3253" y="2250439"/>
            <a:ext cx="482252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Tekrar deseni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günlük, haftalık ya da özel aralıklarla otomatik oluşan toplantılar.</a:t>
            </a:r>
            <a:endParaRPr lang="en-US" sz="1300" dirty="0"/>
          </a:p>
        </p:txBody>
      </p:sp>
      <p:pic>
        <p:nvPicPr>
          <p:cNvPr id="7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898139"/>
            <a:ext cx="177800" cy="177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200" y="2898139"/>
            <a:ext cx="46290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Takvim görünümü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tüm proje toplantılarını tek ekranda gör.</a:t>
            </a:r>
            <a:endParaRPr lang="en-US" sz="1300" dirty="0"/>
          </a:p>
        </p:txBody>
      </p:sp>
      <p:pic>
        <p:nvPicPr>
          <p:cNvPr id="9" name="Image 2" descr="PaperPla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298189"/>
            <a:ext cx="177800" cy="177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2200" y="3298189"/>
            <a:ext cx="3785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Hatırlatmalar</a:t>
            </a:r>
            <a:r>
              <a:rPr lang="en-US" sz="13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toplantı öncesi otomatik bildirim.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941695" y="2253614"/>
            <a:ext cx="5434330" cy="3585210"/>
          </a:xfrm>
          <a:prstGeom prst="roundRect">
            <a:avLst>
              <a:gd name="adj" fmla="val 3454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197600" y="3406775"/>
            <a:ext cx="507019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ÖRNEK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197600" y="3703954"/>
            <a:ext cx="507019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Haftalık Planlama Toplantısı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197600" y="4049396"/>
            <a:ext cx="50701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Pazartesi · 10:00 · Sprint ekibi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97600" y="4364354"/>
            <a:ext cx="4922520" cy="6350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6" name="Text 11"/>
          <p:cNvSpPr/>
          <p:nvPr/>
        </p:nvSpPr>
        <p:spPr>
          <a:xfrm>
            <a:off x="6197600" y="4472304"/>
            <a:ext cx="50701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Düzenleme yapıldığında değişiklik serinin geri kalanına uygulanır.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39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167620" y="6238239"/>
            <a:ext cx="12623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Toplantı &amp; Takvim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13E"/>
              </a:gs>
              <a:gs pos="100000">
                <a:srgbClr val="1E2B52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A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GÜNLÜK ÇALIŞMA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Toplantısız Günlük Standup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696721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kullanıcıya özel özet otomatik hazırlanır — toplantıya gerek kalmadan herkes nerede olduğunu bilir.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253614"/>
            <a:ext cx="3414183" cy="1811020"/>
          </a:xfrm>
          <a:prstGeom prst="roundRect">
            <a:avLst>
              <a:gd name="adj" fmla="val 543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7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458721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1080" y="2712721"/>
            <a:ext cx="30940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Dün Tamamlanan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1080" y="2987039"/>
            <a:ext cx="30940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 dün ilerleme kaydedilen işler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8908" y="2253614"/>
            <a:ext cx="3414183" cy="1811020"/>
          </a:xfrm>
          <a:prstGeom prst="roundRect">
            <a:avLst>
              <a:gd name="adj" fmla="val 543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1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4013" y="2458721"/>
            <a:ext cx="177800" cy="177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013" y="2712721"/>
            <a:ext cx="309409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Şu An Devam Eden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4013" y="2987039"/>
            <a:ext cx="30940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gün üzerinde çalışılan görevler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61842" y="2253614"/>
            <a:ext cx="3414183" cy="1811020"/>
          </a:xfrm>
          <a:prstGeom prst="roundRect">
            <a:avLst>
              <a:gd name="adj" fmla="val 543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5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6946" y="2458721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66946" y="2712721"/>
            <a:ext cx="30940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Bloklanan &amp; Takılan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66946" y="2987039"/>
            <a:ext cx="30940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Bağımlılıkla bloklanan ve uzun süre bekleyen görevler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5975" y="4223386"/>
            <a:ext cx="3414183" cy="1615440"/>
          </a:xfrm>
          <a:prstGeom prst="roundRect">
            <a:avLst>
              <a:gd name="adj" fmla="val 609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9" name="Image 3" descr="Cod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1080" y="4428489"/>
            <a:ext cx="177800" cy="177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1080" y="4682489"/>
            <a:ext cx="30940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Aktivitesi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21080" y="4956811"/>
            <a:ext cx="30940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İlgili commit ve PR hareketleri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388908" y="4223386"/>
            <a:ext cx="6987117" cy="1615440"/>
          </a:xfrm>
          <a:prstGeom prst="roundRect">
            <a:avLst>
              <a:gd name="adj" fmla="val 6093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7FA8F5">
                <a:alpha val="40000"/>
              </a:srgbClr>
            </a:solidFill>
            <a:prstDash val="solid"/>
          </a:ln>
        </p:spPr>
      </p:sp>
      <p:pic>
        <p:nvPicPr>
          <p:cNvPr id="23" name="Image 4" descr="PaperPla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4013" y="4428489"/>
            <a:ext cx="177800" cy="1778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94013" y="4682489"/>
            <a:ext cx="677421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Otomatik Gönderim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94013" y="4956811"/>
            <a:ext cx="677421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Toplantı saatinden 30 dakika önce, kişiye özel olarak hazır — hiçbir manuel adım gerekmez.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12800" y="6238239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805901" y="6238239"/>
            <a:ext cx="6240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Standup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ANALIZ &amp; ÖNGÖRÜ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Analitik Panosu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721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Takımın nasıl çalıştığını hislere değil sayılara bakarak anla.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53614"/>
            <a:ext cx="3380317" cy="358521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509521"/>
            <a:ext cx="203200" cy="20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2814321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1880" y="3129279"/>
            <a:ext cx="29545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Bir görev "Devam Ediyor"a girdiği andan "Tamamlandı"ya kadar geçen gerçek süre.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5842" y="2253614"/>
            <a:ext cx="3380317" cy="358521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0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746" y="2509521"/>
            <a:ext cx="203200" cy="20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1746" y="2814321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1746" y="3129279"/>
            <a:ext cx="29545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Sprint bazlı tamamlanan iş miktarı; Kanban takımlar için throughput alternatifi.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98883" y="2256789"/>
            <a:ext cx="3373967" cy="3578860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F5B942"/>
            </a:solidFill>
            <a:prstDash val="solid"/>
          </a:ln>
        </p:spPr>
      </p:sp>
      <p:pic>
        <p:nvPicPr>
          <p:cNvPr id="14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6693" y="2514600"/>
            <a:ext cx="203200" cy="203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6693" y="2819400"/>
            <a:ext cx="29440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Aging WIP Uyarısı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56693" y="3134361"/>
            <a:ext cx="294409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Projenin kendi geçmiş verisine göre "çok uzun süredir bekleyen" görevler otomatik işaretlenir ve bildirilir.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39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862098" y="6238239"/>
            <a:ext cx="5679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Analitik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ANALIZ &amp; ÖNGÖRÜ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Monte Carlo ile Tahminleme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976879"/>
            <a:ext cx="49655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"Bu sprint bitecek mi?" ya da "Backlog ne zaman biter?" sorusuna tek bir sayı değil, </a:t>
            </a:r>
            <a:r>
              <a:rPr lang="en-US" sz="1400" b="1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olasılık aralığı</a:t>
            </a:r>
            <a:r>
              <a:rPr lang="en-US" sz="1400" dirty="0">
                <a:solidFill>
                  <a:srgbClr val="1A22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ile cevap verir.</a:t>
            </a:r>
            <a:endParaRPr lang="en-US" sz="1400" dirty="0"/>
          </a:p>
        </p:txBody>
      </p:sp>
      <p:pic>
        <p:nvPicPr>
          <p:cNvPr id="5" name="Image 0" descr="Lightning">    </p:cNvPr>
          <p:cNvPicPr>
            <a:picLocks noChangeAspect="1"/>
          </p:cNvPicPr>
          <p:nvPr/>
        </p:nvPicPr>
        <p:blipFill>
          <a:blip r:embed="rId1"/>
          <a:srcRect l="0" r="0" t="-1213" b="-1213"/>
          <a:stretch/>
        </p:blipFill>
        <p:spPr>
          <a:xfrm>
            <a:off x="812800" y="3698239"/>
            <a:ext cx="117793" cy="165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2193" y="3698239"/>
            <a:ext cx="473957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Geçmiş günlük throughput verisinin gerçek dağılımını kullanır — düz bir ortalama formülü değil.</a:t>
            </a:r>
            <a:endParaRPr lang="en-US" sz="1200" dirty="0"/>
          </a:p>
        </p:txBody>
      </p:sp>
      <p:pic>
        <p:nvPicPr>
          <p:cNvPr id="7" name="Image 1" descr="Cloud">    </p:cNvPr>
          <p:cNvPicPr>
            <a:picLocks noChangeAspect="1"/>
          </p:cNvPicPr>
          <p:nvPr/>
        </p:nvPicPr>
        <p:blipFill>
          <a:blip r:embed="rId2"/>
          <a:srcRect l="-688" r="-688" t="0" b="0"/>
          <a:stretch/>
        </p:blipFill>
        <p:spPr>
          <a:xfrm>
            <a:off x="812800" y="4307842"/>
            <a:ext cx="148061" cy="165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2461" y="4307842"/>
            <a:ext cx="470839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Sonuçlar önbelleklenir, sprint/backlog güncellendiğinde otomatik tazelenir.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941695" y="2798446"/>
            <a:ext cx="5434330" cy="2145030"/>
          </a:xfrm>
          <a:prstGeom prst="roundRect">
            <a:avLst>
              <a:gd name="adj" fmla="val 5773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48400" y="3105150"/>
            <a:ext cx="49655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ÖRNEK SONUÇ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48400" y="3427729"/>
            <a:ext cx="496554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Backlog Tahmini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248400" y="3905250"/>
            <a:ext cx="10142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%50 olasılıkla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268585" y="3798571"/>
            <a:ext cx="8515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gün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248400" y="4387850"/>
            <a:ext cx="10142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%85 olasılıkla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268585" y="4281171"/>
            <a:ext cx="8515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gün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535073" y="6238242"/>
            <a:ext cx="8949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Tahminleme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ANALIZ &amp; ÖNGÖRÜ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Veriye Dayalı Sprint Retrospektifi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159000"/>
            <a:ext cx="190500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4765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Taahhüt vs. Gerçekleşen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1880" y="2816858"/>
            <a:ext cx="295456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Sprint başındaki ilk taahhüt ile kapanışta tamamlanan iş yan yana görünür — konuşma tahminlere değil verilere dayanır.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42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746" y="2159000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746" y="24765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Spillover Listesi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1746" y="2816858"/>
            <a:ext cx="29545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Sprint'e taşan görevler otomatik listelenir, "neden bitmedi" tartışması somut örneklerle yapılır.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8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3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613" y="2159000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613" y="24765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Retro Maddeleri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51613" y="2816858"/>
            <a:ext cx="29545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Toplantıda not al, tartış ve gerekirse doğrudan yeni bir göreve dönüştür.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006349" y="6238242"/>
            <a:ext cx="4236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ANALIZ &amp; ÖNGÖRÜ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Raporlar &amp; Hedefler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6"/>
            <a:ext cx="5175250" cy="3935730"/>
          </a:xfrm>
          <a:prstGeom prst="roundRect">
            <a:avLst>
              <a:gd name="adj" fmla="val 3146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2680" y="220980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680" y="2540000"/>
            <a:ext cx="46986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Dönemsel Raporlar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22680" y="2895600"/>
            <a:ext cx="4698695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Haftalık, aylık veya çeyreklik dönem seçin — takımın o dönemdeki performansı tek sayfada.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00775" y="1903096"/>
            <a:ext cx="5175250" cy="3935730"/>
          </a:xfrm>
          <a:prstGeom prst="roundRect">
            <a:avLst>
              <a:gd name="adj" fmla="val 3146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9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07480" y="220980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7480" y="2540000"/>
            <a:ext cx="46986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Hedef Takibi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07480" y="2895600"/>
            <a:ext cx="4698695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Dönem ve metrik bazlı hedef belirleyin, ilerlemeyi raporla birlikte izleyin.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21782" y="6238242"/>
            <a:ext cx="14082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Raporlar &amp; Hedefler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13E"/>
              </a:gs>
              <a:gs pos="100000">
                <a:srgbClr val="1E2B52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A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OTOMASYON &amp; ENTEGRASYON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Zaman Makinesi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696721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Board'un geçmişteki herhangi bir anına dönüp bakın — "geçen ayın bugünü nasıl görünüyordu?"</a:t>
            </a:r>
            <a:endParaRPr lang="en-US" sz="1400" dirty="0"/>
          </a:p>
        </p:txBody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598546"/>
            <a:ext cx="177800" cy="17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2200" y="3598546"/>
            <a:ext cx="458543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Bir tarih seçin, o anki görev durumlarını tüm proje için görün.</a:t>
            </a:r>
            <a:endParaRPr lang="en-US" sz="1300" dirty="0"/>
          </a:p>
        </p:txBody>
      </p:sp>
      <p:pic>
        <p:nvPicPr>
          <p:cNvPr id="8" name="Image 1" descr="Database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12800" y="3998596"/>
            <a:ext cx="132292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6692" y="3998596"/>
            <a:ext cx="509614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Görev olay geçmişinden (aktivite kaydından) yeniden oluşturulur, ekstra bir kayıt tutulmaz.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582621" y="3669667"/>
            <a:ext cx="2027343" cy="753110"/>
          </a:xfrm>
          <a:prstGeom prst="roundRect">
            <a:avLst>
              <a:gd name="adj" fmla="val 1306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62327" y="3823971"/>
            <a:ext cx="166793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Bugün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62327" y="4019550"/>
            <a:ext cx="1667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görev · Sprint 14</a:t>
            </a:r>
            <a:endParaRPr lang="en-US" sz="1400" dirty="0"/>
          </a:p>
        </p:txBody>
      </p:sp>
      <p:pic>
        <p:nvPicPr>
          <p:cNvPr id="13" name="Image 2" descr="arrow-lef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9340" y="3982721"/>
            <a:ext cx="304800" cy="127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73515" y="3669667"/>
            <a:ext cx="1920663" cy="753110"/>
          </a:xfrm>
          <a:prstGeom prst="roundRect">
            <a:avLst>
              <a:gd name="adj" fmla="val 13069"/>
            </a:avLst>
          </a:prstGeom>
          <a:solidFill>
            <a:srgbClr val="3B82F6">
              <a:alpha val="22000"/>
            </a:srgbClr>
          </a:solidFill>
          <a:ln w="6350">
            <a:solidFill>
              <a:srgbClr val="7FA8F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253220" y="3823971"/>
            <a:ext cx="156125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Hafta Önce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253220" y="4019550"/>
            <a:ext cx="1561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görev · Sprint 13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266363" y="6238242"/>
            <a:ext cx="11636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Zaman Makinesi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OTOMASYON &amp; ENTEGRASYON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Hazır Otomasyon Şablonları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721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Kural yazmaya gerek yok — proje ayarlarından tek tıkla aç/kapa.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28217"/>
            <a:ext cx="3414183" cy="1725930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6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433321"/>
            <a:ext cx="177800" cy="17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1080" y="2687321"/>
            <a:ext cx="30940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 Birleşince Bitir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21080" y="2954021"/>
            <a:ext cx="30940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 request merge edilince görev otomatik "Tamamlandı" olur.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8908" y="2228217"/>
            <a:ext cx="3414183" cy="1725930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0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4013" y="2433321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4013" y="2687321"/>
            <a:ext cx="309409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 Görevler Bitince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94013" y="2954021"/>
            <a:ext cx="30940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Tüm alt görevler tamamlanınca üst görev "İncelemede"ye taşınır.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961842" y="2228217"/>
            <a:ext cx="3414183" cy="1725930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4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6946" y="2433321"/>
            <a:ext cx="177800" cy="177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66946" y="2687321"/>
            <a:ext cx="30940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Bloklayan Bitince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166946" y="2954021"/>
            <a:ext cx="30940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Engelleyen görev bitince beklettiği görevin sahibine haber verilir.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5975" y="4112896"/>
            <a:ext cx="3414183" cy="1725930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8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1080" y="4318000"/>
            <a:ext cx="177800" cy="177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1080" y="4572000"/>
            <a:ext cx="30940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Süresi Geçen Görev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21080" y="4838700"/>
            <a:ext cx="30940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Termini geçen görevler için günlük hatırlatma bildirimi gider.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88908" y="4112896"/>
            <a:ext cx="3414183" cy="1725930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22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4013" y="4318000"/>
            <a:ext cx="177800" cy="177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4013" y="4572000"/>
            <a:ext cx="309409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Atanınca Başlat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94013" y="4838700"/>
            <a:ext cx="30940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"Yapılacak" durumundaki bir görev birine atanınca otomatik "Devam Ediyor"a geçer.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961842" y="4112896"/>
            <a:ext cx="3414183" cy="1725930"/>
          </a:xfrm>
          <a:prstGeom prst="roundRect">
            <a:avLst>
              <a:gd name="adj" fmla="val 5703"/>
            </a:avLst>
          </a:prstGeom>
          <a:solidFill>
            <a:srgbClr val="EAF1FF"/>
          </a:solidFill>
          <a:ln w="6350">
            <a:solidFill>
              <a:srgbClr val="BFD3F8"/>
            </a:solidFill>
            <a:prstDash val="solid"/>
          </a:ln>
        </p:spPr>
      </p:sp>
      <p:pic>
        <p:nvPicPr>
          <p:cNvPr id="26" name="Image 5" descr="Setting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66946" y="4534533"/>
            <a:ext cx="177800" cy="177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66946" y="4788533"/>
            <a:ext cx="3094092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şablon proje bazında bağımsız açılır/kapanır; ekip her projede farklı kurallar tercih edebilir.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600055" y="6238242"/>
            <a:ext cx="8299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Otomasyon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OTOMASYON &amp; ENTEGRASYON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Arama, Komut Paleti &amp; Bildirimler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15900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4638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Arama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1880" y="2778758"/>
            <a:ext cx="29545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Türkçe karakter ve aksan farkını görmezden gelerek görev, yorum ve proje içinde arar.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42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9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746" y="215900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746" y="24638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Komut Paleti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1746" y="2778758"/>
            <a:ext cx="29545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Kısayolla açılır; sayfalar, projeler ve görevler arasında klavyeden hızlı geçiş sağlar.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8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3" name="Image 2" descr="PaperPla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613" y="2159000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613" y="24638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Inbox (Bildirim Kutusu)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51613" y="2778758"/>
            <a:ext cx="29545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Atama, mention, bloklayan görev bitişi gibi tüm olaylar tek bir kutuda toplanır.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220113" y="6238242"/>
            <a:ext cx="1209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Arama &amp; Bildirim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OTOMASYON &amp; ENTEGRASYON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13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Entegrasyonlar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15900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4638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Webhook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1880" y="2778758"/>
            <a:ext cx="29545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veya PR mesajında görev anahtarı (ör. </a:t>
            </a:r>
            <a:r>
              <a:rPr lang="en-US" sz="12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PROJ-12</a:t>
            </a: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geçirin — görev durumu otomatik ilerler.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42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746" y="215900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746" y="24638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Slack Bildirimleri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1746" y="2778758"/>
            <a:ext cx="29545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Görev oluşturma ve durum değişiklikleri seçtiğiniz Slack kanalına düşer.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8" y="1903096"/>
            <a:ext cx="3380317" cy="393573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pic>
        <p:nvPicPr>
          <p:cNvPr id="13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613" y="2159000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613" y="24638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Kişisel Erişim Token'ları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51613" y="2778758"/>
            <a:ext cx="29545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Kendi script veya otomasyonunuzdan, giriş yapmadan API'ye erişin — dakikalık istek sınırıyla korunur.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52617" y="6238242"/>
            <a:ext cx="107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Entegrasyonlar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13E"/>
              </a:gs>
              <a:gs pos="100000">
                <a:srgbClr val="1E2B52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A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GÜVENLIK &amp; KAPANIŞ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Güvenlik &amp; Çoklu Kiracı Mimarisi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696721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workspace'in verisi ayrı bir kutuda — biri diğerinin verisine asla ulaşamaz.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253617"/>
            <a:ext cx="3414183" cy="3585210"/>
          </a:xfrm>
          <a:prstGeom prst="roundRect">
            <a:avLst>
              <a:gd name="adj" fmla="val 288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7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458721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1080" y="2712721"/>
            <a:ext cx="30940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Veritabanı Seviyesinde İzolasyon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1080" y="2987042"/>
            <a:ext cx="3094092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sorgu workspace'e göre veritabanı katmanında otomatik filtrelenir — kod hatası izolasyonu delemez.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8908" y="2253617"/>
            <a:ext cx="3414183" cy="3585210"/>
          </a:xfrm>
          <a:prstGeom prst="roundRect">
            <a:avLst>
              <a:gd name="adj" fmla="val 288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1" name="Image 1" descr="Verifi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4013" y="2458721"/>
            <a:ext cx="177800" cy="177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013" y="2712721"/>
            <a:ext cx="309409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Güvenli Kimlik Doğrulama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4013" y="2987042"/>
            <a:ext cx="30940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Kısa ömürlü erişim token'ı + rotasyon korumalı yenileme; çalıntı token otomatik yakalanır.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61842" y="2253617"/>
            <a:ext cx="3414183" cy="3585210"/>
          </a:xfrm>
          <a:prstGeom prst="roundRect">
            <a:avLst>
              <a:gd name="adj" fmla="val 288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5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6946" y="2458721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66946" y="2712721"/>
            <a:ext cx="30940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 Bazlı Yetkilendirme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66946" y="2987042"/>
            <a:ext cx="30940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Yönetici, Yönetmen, Geliştirici, İzleyici — her rol sadece kendi yetkisindeki işlemi yapar.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12800" y="6238242"/>
            <a:ext cx="1047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WorkFollowUp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782723" y="6238242"/>
            <a:ext cx="6472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Güvenlik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7FA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DENEYIN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58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Takımınız için</a:t>
            </a:r>
            <a:endParaRPr lang="en-US" sz="4400" dirty="0"/>
          </a:p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WorkFollowUp'ı deneyin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560315"/>
            <a:ext cx="85026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7D3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Board'dan analitiğe, standup'tan otomasyona — tek platformda planlayın, takip edin, öğrenin.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5712458"/>
            <a:ext cx="406400" cy="25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581405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C9B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İletişim: [e-posta / demo talep bağlantısı]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WorkFollowUp Tanıtım Sunumu</dc:title>
  <dc:subject>PptxGenJS Presentation</dc:subject>
  <dc:creator>PptxGenJS</dc:creator>
  <cp:lastModifiedBy>PptxGenJS</cp:lastModifiedBy>
  <cp:revision>1</cp:revision>
  <dcterms:created xsi:type="dcterms:W3CDTF">2026-09-26T20:24:06Z</dcterms:created>
  <dcterms:modified xsi:type="dcterms:W3CDTF">2026-09-26T20:24:06Z</dcterms:modified>
</cp:coreProperties>
</file>